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rgbClr val="0D1B2A"/>
      </p:bgRef>
    </p:bg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2800" b="1">
          <a:solidFill>
            <a:srgbClr val="00BEE6"/>
          </a:solidFill>
        </a:defRPr>
      </a:lvl1pPr>
    </p:titleStyle>
    <p:bodyStyle>
      <a:lvl1pPr>
        <a:defRPr sz="1600">
          <a:solidFill>
            <a:srgbClr val="D0D0D0"/>
          </a:solidFill>
        </a:defRPr>
      </a:lvl1pPr>
    </p:bodyStyle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</p:spPr>
        <p:txBody>
          <a:bodyPr/>
          <a:lstStyle/>
          <a:p/>
        </p:txBody>
      </p:sp>
      <p:sp>
        <p:nvSpPr>
          <p:cNvPr id="20" name="T"/>
          <p:cNvSpPr txBox="1"/>
          <p:nvPr/>
        </p:nvSpPr>
        <p:spPr>
          <a:xfrm>
            <a:off x="914400" y="2744000"/>
            <a:ext cx="10363200" cy="9144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3600" b="1">
                <a:solidFill>
                  <a:srgbClr val="FFFFFF"/>
                </a:solidFill>
              </a:rPr>
              <a:t>Fragment 翻译增强</a:t>
            </a:r>
          </a:p>
        </p:txBody>
      </p:sp>
      <p:sp>
        <p:nvSpPr>
          <p:cNvPr id="21" name="S"/>
          <p:cNvSpPr txBox="1"/>
          <p:nvPr/>
        </p:nvSpPr>
        <p:spPr>
          <a:xfrm>
            <a:off x="914400" y="3657600"/>
            <a:ext cx="10363200" cy="4572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2200">
                <a:solidFill>
                  <a:srgbClr val="00BEE6"/>
                </a:solidFill>
              </a:rPr>
              <a:t>原理、实现与消融分析</a:t>
            </a:r>
          </a:p>
        </p:txBody>
      </p:sp>
      <p:sp>
        <p:nvSpPr>
          <p:cNvPr id="22" name="I"/>
          <p:cNvSpPr txBox="1"/>
          <p:nvPr/>
        </p:nvSpPr>
        <p:spPr>
          <a:xfrm>
            <a:off x="914400" y="4800000"/>
            <a:ext cx="10363200" cy="9144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400">
                <a:solidFill>
                  <a:srgbClr val="D0D0D0"/>
                </a:solidFill>
              </a:rPr>
              <a:t>基于伪代码中间层、语法注入与结构检索的 LLM 代码翻译改进</a:t>
            </a:r>
          </a:p>
          <a:p>
            <a:r>
              <a:rPr lang="en-US" sz="1200">
                <a:solidFill>
                  <a:srgbClr val="D0D0D0"/>
                </a:solidFill>
              </a:rPr>
              <a:t>项目：x2cangjie  |  Java - 仓颉(Cangjie)自动翻译  |  2026-07-08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</p:spPr>
        <p:txBody>
          <a:bodyPr/>
          <a:lstStyle/>
          <a:p/>
        </p:txBody>
      </p:sp>
      <p:sp>
        <p:nvSpPr>
          <p:cNvPr id="11" name="T"/>
          <p:cNvSpPr txBox="1"/>
          <p:nvPr/>
        </p:nvSpPr>
        <p:spPr>
          <a:xfrm>
            <a:off x="457200" y="274000"/>
            <a:ext cx="11277600" cy="571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2400" b="1">
                <a:solidFill>
                  <a:srgbClr val="00BEE6"/>
                </a:solidFill>
              </a:rPr>
              <a:t>背景：x2cangjie 在做什么</a:t>
            </a:r>
          </a:p>
        </p:txBody>
      </p:sp>
      <p:sp>
        <p:nvSpPr>
          <p:cNvPr id="20" name="D"/>
          <p:cNvSpPr txBox="1"/>
          <p:nvPr/>
        </p:nvSpPr>
        <p:spPr>
          <a:xfrm>
            <a:off x="457200" y="823000"/>
            <a:ext cx="11277600" cy="9144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800" b="1">
                <a:solidFill>
                  <a:srgbClr val="FFFFFF"/>
                </a:solidFill>
              </a:rPr>
              <a:t>目标：把 Java 库自动翻译成仓颉(Cangjie)语言</a:t>
            </a:r>
          </a:p>
          <a:p>
            <a:r>
              <a:rPr lang="en-US" sz="1000">
                <a:solidFill>
                  <a:srgbClr val="D0D0D0"/>
                </a:solidFill>
              </a:rPr>
              <a:t>Pipeline: preprocess - create_schema - get_dependencies - translate_types - create_skeleton - build_mock_corpus - translate_fragment - analyze_errors</a:t>
            </a:r>
          </a:p>
          <a:p>
            <a:r>
              <a:rPr lang="en-US" sz="1200">
                <a:solidFill>
                  <a:srgbClr val="D0D0D0"/>
                </a:solidFill>
              </a:rPr>
              <a:t>核心是第 7 步 translate_fragment：LLM 逐个 fragment 翻译，每填一个跑 cjpm build 编译验证，失败带错误反馈重试</a:t>
            </a:r>
          </a:p>
        </p:txBody>
      </p:sp>
      <p:sp>
        <p:nvSpPr>
          <p:cNvPr id="21" name="E"/>
          <p:cNvSpPr txBox="1"/>
          <p:nvPr/>
        </p:nvSpPr>
        <p:spPr>
          <a:xfrm>
            <a:off x="457200" y="2286000"/>
            <a:ext cx="11277600" cy="4572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600" b="1">
                <a:solidFill>
                  <a:srgbClr val="00BEE6"/>
                </a:solidFill>
              </a:rPr>
              <a:t>观察到的两类系统性错误：</a:t>
            </a:r>
          </a:p>
        </p:txBody>
      </p:sp>
      <p:sp>
        <p:nvSpPr>
          <p:cNvPr id="22" name="A"/>
          <p:cNvSpPr txBox="1"/>
          <p:nvPr/>
        </p:nvSpPr>
        <p:spPr>
          <a:xfrm>
            <a:off x="457200" y="2743000"/>
            <a:ext cx="5486400" cy="2743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400" b="1">
                <a:solidFill>
                  <a:srgbClr val="FFA500"/>
                </a:solidFill>
              </a:rPr>
              <a:t>A: 错误继承 Java 源语法/API</a:t>
            </a:r>
          </a:p>
          <a:p>
            <a:r>
              <a:rPr lang="en-US" sz="1200">
                <a:solidFill>
                  <a:srgbClr val="D0D0D0"/>
                </a:solidFill>
              </a:rPr>
              <a:t>LLM 照搬 stream API / checked exception / for-each lambda</a:t>
            </a:r>
          </a:p>
          <a:p>
            <a:r>
              <a:rPr lang="en-US" sz="1200">
                <a:solidFill>
                  <a:srgbClr val="D0D0D0"/>
                </a:solidFill>
              </a:rPr>
              <a:t>根因：LLM 模仿源码结构而非理解意图后用目标语言惯用法重写</a:t>
            </a:r>
          </a:p>
        </p:txBody>
      </p:sp>
      <p:sp>
        <p:nvSpPr>
          <p:cNvPr id="23" name="B"/>
          <p:cNvSpPr txBox="1"/>
          <p:nvPr/>
        </p:nvSpPr>
        <p:spPr>
          <a:xfrm>
            <a:off x="6400800" y="2743000"/>
            <a:ext cx="5334000" cy="2743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400" b="1">
                <a:solidFill>
                  <a:srgbClr val="FF5555"/>
                </a:solidFill>
              </a:rPr>
              <a:t>B: 使用错误的 Cangjie 语法/API</a:t>
            </a:r>
          </a:p>
          <a:p>
            <a:r>
              <a:rPr lang="en-US" sz="1200">
                <a:solidFill>
                  <a:srgbClr val="D0D0D0"/>
                </a:solidFill>
              </a:rPr>
              <a:t>泛型用 extends 而非 where T&lt;:Bound、Any 当 HashMap key、boolean 而非 Bool</a:t>
            </a:r>
          </a:p>
          <a:p>
            <a:r>
              <a:rPr lang="en-US" sz="1200">
                <a:solidFill>
                  <a:srgbClr val="D0D0D0"/>
                </a:solidFill>
              </a:rPr>
              <a:t>根因：Cangjie 是新语言，LLM 训练数据中几乎没有 Cangjie 代码</a:t>
            </a:r>
          </a:p>
        </p:txBody>
      </p:sp>
      <p:sp>
        <p:nvSpPr>
          <p:cNvPr id="24" name="M"/>
          <p:cNvSpPr txBox="1"/>
          <p:nvPr/>
        </p:nvSpPr>
        <p:spPr>
          <a:xfrm>
            <a:off x="457200" y="5486000"/>
            <a:ext cx="11277600" cy="4572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600" b="1">
                <a:solidFill>
                  <a:srgbClr val="4EC9B0"/>
                </a:solidFill>
              </a:rPr>
              <a:t>针对 A/B 两类错误，做了三件事(Part 1/2/3)，互相独立、可单独或组合开关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</p:spPr>
        <p:txBody>
          <a:bodyPr/>
          <a:lstStyle/>
          <a:p/>
        </p:txBody>
      </p:sp>
      <p:sp>
        <p:nvSpPr>
          <p:cNvPr id="11" name="T"/>
          <p:cNvSpPr txBox="1"/>
          <p:nvPr/>
        </p:nvSpPr>
        <p:spPr>
          <a:xfrm>
            <a:off x="457200" y="274000"/>
            <a:ext cx="11277600" cy="571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2400" b="1">
                <a:solidFill>
                  <a:srgbClr val="00BEE6"/>
                </a:solidFill>
              </a:rPr>
              <a:t>Part 1：伪代码中间层(解决错误 A)</a:t>
            </a:r>
          </a:p>
        </p:txBody>
      </p:sp>
      <p:sp>
        <p:nvSpPr>
          <p:cNvPr id="20" name="P"/>
          <p:cNvSpPr txBox="1"/>
          <p:nvPr/>
        </p:nvSpPr>
        <p:spPr>
          <a:xfrm>
            <a:off x="457200" y="823000"/>
            <a:ext cx="11277600" cy="1371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400" b="1">
                <a:solidFill>
                  <a:srgbClr val="00BEE6"/>
                </a:solidFill>
              </a:rPr>
              <a:t>参考论文：</a:t>
            </a:r>
          </a:p>
          <a:p>
            <a:r>
              <a:rPr lang="en-US" sz="1200">
                <a:solidFill>
                  <a:srgbClr val="D0D0D0"/>
                </a:solidFill>
              </a:rPr>
              <a:t>A1: Pseudocode-based Code Translation (arXiv 2510.00920, 2025) - 源-伪代码-目标，两阶段语义翻译</a:t>
            </a:r>
          </a:p>
          <a:p>
            <a:r>
              <a:rPr lang="en-US" sz="1200">
                <a:solidFill>
                  <a:srgbClr val="D0D0D0"/>
                </a:solidFill>
              </a:rPr>
              <a:t>A3: NL in the Middle (CASCON 2025) - 自然语言中间表示效果最好(+13.8%)</a:t>
            </a:r>
          </a:p>
          <a:p>
            <a:r>
              <a:rPr lang="en-US" sz="1200">
                <a:solidFill>
                  <a:srgbClr val="D0D0D0"/>
                </a:solidFill>
              </a:rPr>
              <a:t>A6: Assessing Intermediate Languages (arXiv 2407.05411) - 警示：收益可能部分来自 CoT 多步推理效应</a:t>
            </a:r>
          </a:p>
        </p:txBody>
      </p:sp>
      <p:sp>
        <p:nvSpPr>
          <p:cNvPr id="21" name="R"/>
          <p:cNvSpPr txBox="1"/>
          <p:nvPr/>
        </p:nvSpPr>
        <p:spPr>
          <a:xfrm>
            <a:off x="457200" y="2743000"/>
            <a:ext cx="11277600" cy="1371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400" b="1">
                <a:solidFill>
                  <a:srgbClr val="00BEE6"/>
                </a:solidFill>
              </a:rPr>
              <a:t>论文原理(A1)：</a:t>
            </a:r>
          </a:p>
          <a:p>
            <a:r>
              <a:rPr lang="en-US" sz="1200">
                <a:solidFill>
                  <a:srgbClr val="D0D0D0"/>
                </a:solidFill>
              </a:rPr>
              <a:t>直接翻译时 LLM 试图模仿源码结构 - 生成语义不一致的代码</a:t>
            </a:r>
          </a:p>
          <a:p>
            <a:r>
              <a:rPr lang="en-US" sz="1200">
                <a:solidFill>
                  <a:srgbClr val="D0D0D0"/>
                </a:solidFill>
              </a:rPr>
              <a:t>伪代码中间层：LLM 先把源码抽象成语言无关伪代码，再从伪代码生成目标代码</a:t>
            </a:r>
          </a:p>
          <a:p>
            <a:r>
              <a:rPr lang="en-US" sz="1200" b="1">
                <a:solidFill>
                  <a:srgbClr val="4EC9B0"/>
                </a:solidFill>
              </a:rPr>
              <a:t>测试 5 种策略组合，发现'伪代码+源代码'组合效果最好 - 伪代码居中解决歧义，源码作为 fallback</a:t>
            </a:r>
          </a:p>
        </p:txBody>
      </p:sp>
      <p:sp>
        <p:nvSpPr>
          <p:cNvPr id="22" name="I"/>
          <p:cNvSpPr txBox="1"/>
          <p:nvPr/>
        </p:nvSpPr>
        <p:spPr>
          <a:xfrm>
            <a:off x="457200" y="4572000"/>
            <a:ext cx="11277600" cy="1828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400" b="1">
                <a:solidFill>
                  <a:srgbClr val="00BEE6"/>
                </a:solidFill>
              </a:rPr>
              <a:t>项目实现：</a:t>
            </a:r>
          </a:p>
          <a:p>
            <a:r>
              <a:rPr lang="en-US" sz="1200">
                <a:solidFill>
                  <a:srgbClr val="D0D0D0"/>
                </a:solidFill>
              </a:rPr>
              <a:t>Java fragment - LLM - 伪代码+注释 (Phase-1) - 伪代码+Java源码+metadata - LLM - Cangjie (Phase-2)</a:t>
            </a:r>
          </a:p>
          <a:p>
            <a:r>
              <a:rPr lang="en-US" sz="1200">
                <a:solidFill>
                  <a:srgbClr val="D0D0D0"/>
                </a:solidFill>
              </a:rPr>
              <a:t>Phase-1 prompt 规约：仅通用关键字、API 调用改写为动词短语、每块前 // 注释说明意图</a:t>
            </a:r>
          </a:p>
          <a:p>
            <a:r>
              <a:rPr lang="en-US" sz="1200">
                <a:solidFill>
                  <a:srgbClr val="D0D0D0"/>
                </a:solidFill>
              </a:rPr>
              <a:t>失败退化为直接翻译；_skip_prompt_build 优化跳过昂贵上下文加载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</p:spPr>
        <p:txBody>
          <a:bodyPr/>
          <a:lstStyle/>
          <a:p/>
        </p:txBody>
      </p:sp>
      <p:sp>
        <p:nvSpPr>
          <p:cNvPr id="11" name="T"/>
          <p:cNvSpPr txBox="1"/>
          <p:nvPr/>
        </p:nvSpPr>
        <p:spPr>
          <a:xfrm>
            <a:off x="457200" y="274000"/>
            <a:ext cx="11277600" cy="571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2400" b="1">
                <a:solidFill>
                  <a:srgbClr val="00BEE6"/>
                </a:solidFill>
              </a:rPr>
              <a:t>Part 2：Cangjie 语法 EBNF 注入(解决错误 B)</a:t>
            </a:r>
          </a:p>
        </p:txBody>
      </p:sp>
      <p:sp>
        <p:nvSpPr>
          <p:cNvPr id="20" name="P"/>
          <p:cNvSpPr txBox="1"/>
          <p:nvPr/>
        </p:nvSpPr>
        <p:spPr>
          <a:xfrm>
            <a:off x="457200" y="823000"/>
            <a:ext cx="11277600" cy="100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400" b="1">
                <a:solidFill>
                  <a:srgbClr val="00BEE6"/>
                </a:solidFill>
              </a:rPr>
              <a:t>参考论文：</a:t>
            </a:r>
          </a:p>
          <a:p>
            <a:r>
              <a:rPr lang="en-US" sz="1200">
                <a:solidFill>
                  <a:srgbClr val="D0D0D0"/>
                </a:solidFill>
              </a:rPr>
              <a:t>B2: Grammar Prompting (Wang et al., ACL 2023) - BNF 语法注入 prompt，仅注入不需约束解码就显著提升</a:t>
            </a:r>
          </a:p>
          <a:p>
            <a:r>
              <a:rPr lang="en-US" sz="1200">
                <a:solidFill>
                  <a:srgbClr val="D0D0D0"/>
                </a:solidFill>
              </a:rPr>
              <a:t>B1: DocCGen (EMNLP 2024) - 从文档提取 grammar/schema 做约束解码，OOD 场景效果显著</a:t>
            </a:r>
          </a:p>
        </p:txBody>
      </p:sp>
      <p:sp>
        <p:nvSpPr>
          <p:cNvPr id="21" name="K"/>
          <p:cNvSpPr txBox="1"/>
          <p:nvPr/>
        </p:nvSpPr>
        <p:spPr>
          <a:xfrm>
            <a:off x="457200" y="2286000"/>
            <a:ext cx="11277600" cy="4572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600" b="1">
                <a:solidFill>
                  <a:srgbClr val="FFA500"/>
                </a:solidFill>
              </a:rPr>
              <a:t>Cangjie 对 LLM 就是 DSL - 训练数据极少</a:t>
            </a:r>
          </a:p>
        </p:txBody>
      </p:sp>
      <p:sp>
        <p:nvSpPr>
          <p:cNvPr id="22" name="C"/>
          <p:cNvSpPr txBox="1"/>
          <p:nvPr/>
        </p:nvSpPr>
        <p:spPr>
          <a:xfrm>
            <a:off x="457200" y="2830000"/>
            <a:ext cx="11277600" cy="2743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400" b="1">
                <a:solidFill>
                  <a:srgbClr val="00BEE6"/>
                </a:solidFill>
              </a:rPr>
              <a:t>项目实现 - 注入 8 条硬约束(G1-G8)：</a:t>
            </a:r>
          </a:p>
          <a:p>
            <a:r>
              <a:rPr lang="en-US" sz="1200">
                <a:solidFill>
                  <a:srgbClr val="D0D0D0"/>
                </a:solidFill>
              </a:rPr>
              <a:t>G1: 泛型用 where T &lt;: Bound(不是 extends)  - Java ? extends T</a:t>
            </a:r>
          </a:p>
          <a:p>
            <a:r>
              <a:rPr lang="en-US" sz="1200">
                <a:solidFill>
                  <a:srgbClr val="D0D0D0"/>
                </a:solidFill>
              </a:rPr>
              <a:t>G3: Any 不满足 Hashable，用 AnyHashable      - HashMap&lt;Object,V&gt; 编译报错</a:t>
            </a:r>
          </a:p>
          <a:p>
            <a:r>
              <a:rPr lang="en-US" sz="1200">
                <a:solidFill>
                  <a:srgbClr val="D0D0D0"/>
                </a:solidFill>
              </a:rPr>
              <a:t>G5: 布尔类型是 Bool(不是 boolean)           - Java boolean</a:t>
            </a:r>
          </a:p>
          <a:p>
            <a:r>
              <a:rPr lang="en-US" sz="1200">
                <a:solidFill>
                  <a:srgbClr val="D0D0D0"/>
                </a:solidFill>
              </a:rPr>
              <a:t>G6: 字符串插值 模板表达式              - Java String.format</a:t>
            </a:r>
          </a:p>
          <a:p>
            <a:r>
              <a:rPr lang="en-US" sz="1200">
                <a:solidFill>
                  <a:srgbClr val="D0D0D0"/>
                </a:solidFill>
              </a:rPr>
              <a:t>第二部分：运行时 API 映射表(Object-AnyHashable, Runnable-()-Unit 等)</a:t>
            </a:r>
          </a:p>
          <a:p>
            <a:r>
              <a:rPr lang="en-US" sz="1200">
                <a:solidFill>
                  <a:srgbClr val="D0D0D0"/>
                </a:solidFill>
              </a:rPr>
              <a:t>设计：规则在 YAML 配置可编辑；单例缓存；靠编译错误反馈做 rejection sampling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</p:spPr>
        <p:txBody>
          <a:bodyPr/>
          <a:lstStyle/>
          <a:p/>
        </p:txBody>
      </p:sp>
      <p:sp>
        <p:nvSpPr>
          <p:cNvPr id="11" name="T"/>
          <p:cNvSpPr txBox="1"/>
          <p:nvPr/>
        </p:nvSpPr>
        <p:spPr>
          <a:xfrm>
            <a:off x="457200" y="274000"/>
            <a:ext cx="11277600" cy="571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2400" b="1">
                <a:solidFill>
                  <a:srgbClr val="00BEE6"/>
                </a:solidFill>
              </a:rPr>
              <a:t>Part 3：语法图 RAG(CFG/DFG 结构相似检索)</a:t>
            </a:r>
          </a:p>
        </p:txBody>
      </p:sp>
      <p:sp>
        <p:nvSpPr>
          <p:cNvPr id="20" name="P"/>
          <p:cNvSpPr txBox="1"/>
          <p:nvPr/>
        </p:nvSpPr>
        <p:spPr>
          <a:xfrm>
            <a:off x="457200" y="823000"/>
            <a:ext cx="11277600" cy="100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400" b="1">
                <a:solidFill>
                  <a:srgbClr val="00BEE6"/>
                </a:solidFill>
              </a:rPr>
              <a:t>参考论文：</a:t>
            </a:r>
          </a:p>
          <a:p>
            <a:r>
              <a:rPr lang="en-US" sz="1200">
                <a:solidFill>
                  <a:srgbClr val="D0D0D0"/>
                </a:solidFill>
              </a:rPr>
              <a:t>B3: CodeGRAG (Huang et al., arXiv 2405.02355, 2024) - 提取 CFG+DFG 融合图，GNN+跨语言检索结构相似代码</a:t>
            </a:r>
          </a:p>
          <a:p>
            <a:r>
              <a:rPr lang="en-US" sz="1200">
                <a:solidFill>
                  <a:srgbClr val="D0D0D0"/>
                </a:solidFill>
              </a:rPr>
              <a:t>B4: Syntax-Aware RAG (EMNLP 2023 Findings) - 在 RAG 中引入语法感知，不只用语义相似还用语法结构相似度</a:t>
            </a:r>
          </a:p>
        </p:txBody>
      </p:sp>
      <p:sp>
        <p:nvSpPr>
          <p:cNvPr id="21" name="I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400" b="1">
                <a:solidFill>
                  <a:srgbClr val="00BEE6"/>
                </a:solidFill>
              </a:rPr>
              <a:t>项目实现(实用化简化) - 纯正则结构指纹 + Jaccard 相似度，无 NN/CUDA/额外依赖</a:t>
            </a:r>
          </a:p>
        </p:txBody>
      </p:sp>
      <p:sp>
        <p:nvSpPr>
          <p:cNvPr id="22" name="D"/>
          <p:cNvSpPr txBox="1"/>
          <p:nvPr/>
        </p:nvSpPr>
        <p:spPr>
          <a:xfrm>
            <a:off x="457200" y="3200000"/>
            <a:ext cx="11277600" cy="1828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400" b="1">
                <a:solidFill>
                  <a:srgbClr val="00BEE6"/>
                </a:solidFill>
              </a:rPr>
              <a:t>结构指纹三维度：</a:t>
            </a:r>
          </a:p>
          <a:p>
            <a:r>
              <a:rPr lang="en-US" sz="1200">
                <a:solidFill>
                  <a:srgbClr val="D0D0D0"/>
                </a:solidFill>
              </a:rPr>
              <a:t>shape_bag      : 12 个操作类别计数(cf_if/cf_loop/op_call/op_index 等)，桶化为 0-3</a:t>
            </a:r>
          </a:p>
          <a:p>
            <a:r>
              <a:rPr lang="en-US" sz="1200">
                <a:solidFill>
                  <a:srgbClr val="D0D0D0"/>
                </a:solidFill>
              </a:rPr>
              <a:t>call_names     : 方法调用点标识符集合</a:t>
            </a:r>
          </a:p>
          <a:p>
            <a:r>
              <a:rPr lang="en-US" sz="1200">
                <a:solidFill>
                  <a:srgbClr val="D0D0D0"/>
                </a:solidFill>
              </a:rPr>
              <a:t>container_types: 命中集合类型名(list/array/map/set 等)</a:t>
            </a:r>
          </a:p>
          <a:p>
            <a:r>
              <a:rPr lang="en-US" sz="1200">
                <a:solidFill>
                  <a:srgbClr val="FFFFFF"/>
                </a:solidFill>
              </a:rPr>
              <a:t>检索：加权 Jaccard = 0.6*shape + 0.25*call + 0.15*container，返回 top-3</a:t>
            </a:r>
          </a:p>
          <a:p>
            <a:r>
              <a:rPr lang="en-US" sz="1200">
                <a:solidFill>
                  <a:srgbClr val="D0D0D0"/>
                </a:solidFill>
              </a:rPr>
              <a:t>索引：扫描 CangjieCorpus，12874 个代码块，pickle 序列化</a:t>
            </a:r>
          </a:p>
          <a:p>
            <a:r>
              <a:rPr lang="en-US" sz="1200" b="1">
                <a:solidFill>
                  <a:srgbClr val="4EC9B0"/>
                </a:solidFill>
              </a:rPr>
              <a:t>与现有 RAG 互补：原 RAG 回答'该用什么 API'，Part 3 回答'该写什么样的代码骨架'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</p:spPr>
        <p:txBody>
          <a:bodyPr/>
          <a:lstStyle/>
          <a:p/>
        </p:txBody>
      </p:sp>
      <p:sp>
        <p:nvSpPr>
          <p:cNvPr id="11" name="T"/>
          <p:cNvSpPr txBox="1"/>
          <p:nvPr/>
        </p:nvSpPr>
        <p:spPr>
          <a:xfrm>
            <a:off x="457200" y="274000"/>
            <a:ext cx="11277600" cy="571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2400" b="1">
                <a:solidFill>
                  <a:srgbClr val="00BEE6"/>
                </a:solidFill>
              </a:rPr>
              <a:t>三部分如何组合工作</a:t>
            </a:r>
          </a:p>
        </p:txBody>
      </p:sp>
      <p:sp>
        <p:nvSpPr>
          <p:cNvPr id="20" name="O"/>
          <p:cNvSpPr txBox="1"/>
          <p:nvPr/>
        </p:nvSpPr>
        <p:spPr>
          <a:xfrm>
            <a:off x="457200" y="823000"/>
            <a:ext cx="11277600" cy="100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400" b="1">
                <a:solidFill>
                  <a:srgbClr val="00BEE6"/>
                </a:solidFill>
              </a:rPr>
              <a:t>Prompt 注入顺序：</a:t>
            </a:r>
          </a:p>
          <a:p>
            <a:r>
              <a:rPr lang="en-US" sz="1000">
                <a:solidFill>
                  <a:srgbClr val="D0D0D0"/>
                </a:solidFill>
              </a:rPr>
              <a:t>persona - instruction - grammar(Part2) - Java source - pseudocode(Part1) - partial - generics - KB - RAG docs - syntax_graph(Part3) - ICL - feedback</a:t>
            </a:r>
          </a:p>
        </p:txBody>
      </p:sp>
      <p:sp>
        <p:nvSpPr>
          <p:cNvPr id="21" name="F"/>
          <p:cNvSpPr txBox="1"/>
          <p:nvPr/>
        </p:nvSpPr>
        <p:spPr>
          <a:xfrm>
            <a:off x="457200" y="2286000"/>
            <a:ext cx="11277600" cy="4572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400" b="1">
                <a:solidFill>
                  <a:srgbClr val="00BEE6"/>
                </a:solidFill>
              </a:rPr>
              <a:t>CLI 开关(三个 flag 默认 false，向后兼容)：</a:t>
            </a:r>
          </a:p>
        </p:txBody>
      </p:sp>
      <p:sp>
        <p:nvSpPr>
          <p:cNvPr id="22" name="T"/>
          <p:cNvSpPr txBox="1"/>
          <p:nvPr/>
        </p:nvSpPr>
        <p:spPr>
          <a:xfrm>
            <a:off x="457200" y="2743000"/>
            <a:ext cx="11277600" cy="2743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>
                <a:solidFill>
                  <a:srgbClr val="D0D0D0"/>
                </a:solidFill>
              </a:rPr>
              <a:t>仅修 Java-Cangjie API 模式继承错     pseudo=true  grammar=false  syntax=false</a:t>
            </a:r>
          </a:p>
          <a:p>
            <a:r>
              <a:rPr lang="en-US" sz="1200">
                <a:solidFill>
                  <a:srgbClr val="D0D0D0"/>
                </a:solidFill>
              </a:rPr>
              <a:t>不熟悉 Cangjie 语法(多为编译报语法错) pseudo=false grammar=true   syntax=false</a:t>
            </a:r>
          </a:p>
          <a:p>
            <a:r>
              <a:rPr lang="en-US" sz="1200">
                <a:solidFill>
                  <a:srgbClr val="D0D0D0"/>
                </a:solidFill>
              </a:rPr>
              <a:t>需要 few-shot 结构模板              pseudo=false grammar=false  syntax=true</a:t>
            </a:r>
          </a:p>
          <a:p>
            <a:r>
              <a:rPr lang="en-US" sz="1200" b="1">
                <a:solidFill>
                  <a:srgbClr val="4EC9B0"/>
                </a:solidFill>
              </a:rPr>
              <a:t>全开(增益最高)                      pseudo=true  grammar=true   syntax=true</a:t>
            </a:r>
          </a:p>
          <a:p>
            <a:r>
              <a:rPr lang="en-US" sz="1200">
                <a:solidFill>
                  <a:srgbClr val="D0D0D0"/>
                </a:solidFill>
              </a:rPr>
              <a:t>设计逻辑：grammar 在最前(先读规则再读代码)；伪代码在源码后(理解意图后再翻译)</a:t>
            </a:r>
          </a:p>
          <a:p>
            <a:r>
              <a:rPr lang="en-US" sz="1200">
                <a:solidFill>
                  <a:srgbClr val="D0D0D0"/>
                </a:solidFill>
              </a:rPr>
              <a:t>结构示例在 RAG 文档后、ICL 前(作为'怎么写'的模板参考)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</p:spPr>
        <p:txBody>
          <a:bodyPr/>
          <a:lstStyle/>
          <a:p/>
        </p:txBody>
      </p:sp>
      <p:sp>
        <p:nvSpPr>
          <p:cNvPr id="11" name="T"/>
          <p:cNvSpPr txBox="1"/>
          <p:nvPr/>
        </p:nvSpPr>
        <p:spPr>
          <a:xfrm>
            <a:off x="457200" y="274000"/>
            <a:ext cx="11277600" cy="571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2400" b="1">
                <a:solidFill>
                  <a:srgbClr val="00BEE6"/>
                </a:solidFill>
              </a:rPr>
              <a:t>代码结构</a:t>
            </a:r>
          </a:p>
        </p:txBody>
      </p:sp>
      <p:sp>
        <p:nvSpPr>
          <p:cNvPr id="20" name="N"/>
          <p:cNvSpPr txBox="1"/>
          <p:nvPr/>
        </p:nvSpPr>
        <p:spPr>
          <a:xfrm>
            <a:off x="457200" y="823000"/>
            <a:ext cx="5486400" cy="320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400" b="1">
                <a:solidFill>
                  <a:srgbClr val="4EC9B0"/>
                </a:solidFill>
              </a:rPr>
              <a:t>新增文件：</a:t>
            </a:r>
          </a:p>
          <a:p>
            <a:r>
              <a:rPr lang="en-US" sz="1200">
                <a:solidFill>
                  <a:srgbClr val="D0D0D0"/>
                </a:solidFill>
              </a:rPr>
              <a:t>grammar_prompt.py (Part 2)</a:t>
            </a:r>
          </a:p>
          <a:p>
            <a:r>
              <a:rPr lang="en-US" sz="1200">
                <a:solidFill>
                  <a:srgbClr val="D0D0D0"/>
                </a:solidFill>
              </a:rPr>
              <a:t>syntax_graph.py (Part 3)</a:t>
            </a:r>
          </a:p>
          <a:p>
            <a:r>
              <a:rPr lang="en-US" sz="1200">
                <a:solidFill>
                  <a:srgbClr val="D0D0D0"/>
                </a:solidFill>
              </a:rPr>
              <a:t>ablation_compare.py (消融分析)</a:t>
            </a:r>
          </a:p>
          <a:p>
            <a:r>
              <a:rPr lang="en-US" sz="1200">
                <a:solidFill>
                  <a:srgbClr val="D0D0D0"/>
                </a:solidFill>
              </a:rPr>
              <a:t>build_syntax_graph_index.sh</a:t>
            </a:r>
          </a:p>
          <a:p>
            <a:r>
              <a:rPr lang="en-US" sz="1200">
                <a:solidFill>
                  <a:srgbClr val="D0D0D0"/>
                </a:solidFill>
              </a:rPr>
              <a:t>run_ablation.sh</a:t>
            </a:r>
          </a:p>
          <a:p>
            <a:r>
              <a:rPr lang="en-US" sz="1200">
                <a:solidFill>
                  <a:srgbClr val="D0D0D0"/>
                </a:solidFill>
              </a:rPr>
              <a:t>test_grammar_prompt.py</a:t>
            </a:r>
          </a:p>
          <a:p>
            <a:r>
              <a:rPr lang="en-US" sz="1200">
                <a:solidFill>
                  <a:srgbClr val="D0D0D0"/>
                </a:solidFill>
              </a:rPr>
              <a:t>test_syntax_graph.py</a:t>
            </a:r>
          </a:p>
          <a:p>
            <a:r>
              <a:rPr lang="en-US" sz="1200">
                <a:solidFill>
                  <a:srgbClr val="D0D0D0"/>
                </a:solidFill>
              </a:rPr>
              <a:t>test_ablation_compare.py</a:t>
            </a:r>
          </a:p>
        </p:txBody>
      </p:sp>
      <p:sp>
        <p:nvSpPr>
          <p:cNvPr id="21" name="M"/>
          <p:cNvSpPr txBox="1"/>
          <p:nvPr/>
        </p:nvSpPr>
        <p:spPr>
          <a:xfrm>
            <a:off x="6400800" y="823000"/>
            <a:ext cx="5334000" cy="320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400" b="1">
                <a:solidFill>
                  <a:srgbClr val="FFA500"/>
                </a:solidFill>
              </a:rPr>
              <a:t>修改文件：</a:t>
            </a:r>
          </a:p>
          <a:p>
            <a:r>
              <a:rPr lang="en-US" sz="1200">
                <a:solidFill>
                  <a:srgbClr val="D0D0D0"/>
                </a:solidFill>
              </a:rPr>
              <a:t>compositional_translation_validation.py</a:t>
            </a:r>
          </a:p>
          <a:p>
            <a:r>
              <a:rPr lang="en-US" sz="1200">
                <a:solidFill>
                  <a:srgbClr val="D0D0D0"/>
                </a:solidFill>
              </a:rPr>
              <a:t>prompt_generator.py (Part 1/2/3 注入点)</a:t>
            </a:r>
          </a:p>
          <a:p>
            <a:r>
              <a:rPr lang="en-US" sz="1200">
                <a:solidFill>
                  <a:srgbClr val="D0D0D0"/>
                </a:solidFill>
              </a:rPr>
              <a:t>prompt_templates.yaml (新模板)</a:t>
            </a:r>
          </a:p>
          <a:p>
            <a:r>
              <a:rPr lang="en-US" sz="1200">
                <a:solidFill>
                  <a:srgbClr val="D0D0D0"/>
                </a:solidFill>
              </a:rPr>
              <a:t>translate_fragment.sh (3 个新参数)</a:t>
            </a:r>
          </a:p>
          <a:p>
            <a:r>
              <a:rPr lang="en-US" sz="1200">
                <a:solidFill>
                  <a:srgbClr val="D0D0D0"/>
                </a:solidFill>
              </a:rPr>
              <a:t>create_skeleton.py (类型映射修复)</a:t>
            </a:r>
          </a:p>
          <a:p>
            <a:r>
              <a:rPr lang="en-US" sz="1200">
                <a:solidFill>
                  <a:srgbClr val="D0D0D0"/>
                </a:solidFill>
              </a:rPr>
              <a:t>interface_shim.py (overload 去重)</a:t>
            </a:r>
          </a:p>
          <a:p>
            <a:r>
              <a:rPr lang="en-US" sz="1200">
                <a:solidFill>
                  <a:srgbClr val="D0D0D0"/>
                </a:solidFill>
              </a:rPr>
              <a:t>type_expression.py (URL 误判修复)</a:t>
            </a:r>
          </a:p>
        </p:txBody>
      </p:sp>
      <p:sp>
        <p:nvSpPr>
          <p:cNvPr id="22" name="E"/>
          <p:cNvSpPr txBox="1"/>
          <p:nvPr/>
        </p:nvSpPr>
        <p:spPr>
          <a:xfrm>
            <a:off x="457200" y="4114000"/>
            <a:ext cx="11277600" cy="2286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400" b="1">
                <a:solidFill>
                  <a:srgbClr val="00BEE6"/>
                </a:solidFill>
              </a:rPr>
              <a:t>关键代码入口：</a:t>
            </a:r>
          </a:p>
          <a:p>
            <a:r>
              <a:rPr lang="en-US" sz="1200">
                <a:solidFill>
                  <a:srgbClr val="D0D0D0"/>
                </a:solidFill>
              </a:rPr>
              <a:t>翻译主循环           - compositional_translation_validation.py - translate()</a:t>
            </a:r>
          </a:p>
          <a:p>
            <a:r>
              <a:rPr lang="en-US" sz="1200">
                <a:solidFill>
                  <a:srgbClr val="D0D0D0"/>
                </a:solidFill>
              </a:rPr>
              <a:t>prompt 组装          - prompt_generator.py - build_base_prompt()</a:t>
            </a:r>
          </a:p>
          <a:p>
            <a:r>
              <a:rPr lang="en-US" sz="1200">
                <a:solidFill>
                  <a:srgbClr val="D0D0D0"/>
                </a:solidFill>
              </a:rPr>
              <a:t>Part 1 伪代码生成    - compositional_translation_validation.py - _generate_pseudocode()</a:t>
            </a:r>
          </a:p>
          <a:p>
            <a:r>
              <a:rPr lang="en-US" sz="1200">
                <a:solidFill>
                  <a:srgbClr val="D0D0D0"/>
                </a:solidFill>
              </a:rPr>
              <a:t>Part 2 语法规则      - configs/prompt_templates.yaml - cangjie_grammar_context</a:t>
            </a:r>
          </a:p>
          <a:p>
            <a:r>
              <a:rPr lang="en-US" sz="1200">
                <a:solidFill>
                  <a:srgbClr val="D0D0D0"/>
                </a:solidFill>
              </a:rPr>
              <a:t>Part 3 结构指纹      - syntax_graph.py - infer_structural_signature()</a:t>
            </a:r>
          </a:p>
          <a:p>
            <a:r>
              <a:rPr lang="en-US" sz="1200">
                <a:solidFill>
                  <a:srgbClr val="D0D0D0"/>
                </a:solidFill>
              </a:rPr>
              <a:t>消融报告生成         - ablation_compare.py - main()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</p:spPr>
        <p:txBody>
          <a:bodyPr/>
          <a:lstStyle/>
          <a:p/>
        </p:txBody>
      </p:sp>
      <p:sp>
        <p:nvSpPr>
          <p:cNvPr id="11" name="T"/>
          <p:cNvSpPr txBox="1"/>
          <p:nvPr/>
        </p:nvSpPr>
        <p:spPr>
          <a:xfrm>
            <a:off x="457200" y="274000"/>
            <a:ext cx="11277600" cy="571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2400" b="1">
                <a:solidFill>
                  <a:srgbClr val="00BEE6"/>
                </a:solidFill>
              </a:rPr>
              <a:t>消融实验设计</a:t>
            </a:r>
          </a:p>
        </p:txBody>
      </p:sp>
      <p:sp>
        <p:nvSpPr>
          <p:cNvPr id="20" name="M"/>
          <p:cNvSpPr txBox="1"/>
          <p:nvPr/>
        </p:nvSpPr>
        <p:spPr>
          <a:xfrm>
            <a:off x="457200" y="823000"/>
            <a:ext cx="11277600" cy="100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400">
                <a:solidFill>
                  <a:srgbClr val="D0D0D0"/>
                </a:solidFill>
              </a:rPr>
              <a:t>动机(A6 论文警示)：伪代码中间层的收益可能部分来自 CoT 多步推理效应，需要 ablation 分离每部分的增量来源</a:t>
            </a:r>
          </a:p>
        </p:txBody>
      </p:sp>
      <p:sp>
        <p:nvSpPr>
          <p:cNvPr id="21" name="T"/>
          <p:cNvSpPr txBox="1"/>
          <p:nvPr/>
        </p:nvSpPr>
        <p:spPr>
          <a:xfrm>
            <a:off x="457200" y="2286000"/>
            <a:ext cx="11277600" cy="320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400" b="1">
                <a:solidFill>
                  <a:srgbClr val="00BEE6"/>
                </a:solidFill>
              </a:rPr>
              <a:t>8 种 run-tag(2^3 = 8)：</a:t>
            </a:r>
          </a:p>
          <a:p>
            <a:r>
              <a:rPr lang="en-US" sz="1200">
                <a:solidFill>
                  <a:srgbClr val="D0D0D0"/>
                </a:solidFill>
              </a:rPr>
              <a:t>baseline         pseudo=false  grammar=false  syntax=false</a:t>
            </a:r>
          </a:p>
          <a:p>
            <a:r>
              <a:rPr lang="en-US" sz="1200">
                <a:solidFill>
                  <a:srgbClr val="D0D0D0"/>
                </a:solidFill>
              </a:rPr>
              <a:t>pseudo           pseudo=true   grammar=false  syntax=false</a:t>
            </a:r>
          </a:p>
          <a:p>
            <a:r>
              <a:rPr lang="en-US" sz="1200">
                <a:solidFill>
                  <a:srgbClr val="D0D0D0"/>
                </a:solidFill>
              </a:rPr>
              <a:t>grammar          pseudo=false  grammar=true   syntax=false</a:t>
            </a:r>
          </a:p>
          <a:p>
            <a:r>
              <a:rPr lang="en-US" sz="1200">
                <a:solidFill>
                  <a:srgbClr val="D0D0D0"/>
                </a:solidFill>
              </a:rPr>
              <a:t>syntax           pseudo=false  grammar=false  syntax=true</a:t>
            </a:r>
          </a:p>
          <a:p>
            <a:r>
              <a:rPr lang="en-US" sz="1200">
                <a:solidFill>
                  <a:srgbClr val="D0D0D0"/>
                </a:solidFill>
              </a:rPr>
              <a:t>pseudo+grammar   pseudo=true   grammar=true   syntax=false</a:t>
            </a:r>
          </a:p>
          <a:p>
            <a:r>
              <a:rPr lang="en-US" sz="1200">
                <a:solidFill>
                  <a:srgbClr val="D0D0D0"/>
                </a:solidFill>
              </a:rPr>
              <a:t>pseudo+syntax    pseudo=true   grammar=false  syntax=true</a:t>
            </a:r>
          </a:p>
          <a:p>
            <a:r>
              <a:rPr lang="en-US" sz="1200">
                <a:solidFill>
                  <a:srgbClr val="D0D0D0"/>
                </a:solidFill>
              </a:rPr>
              <a:t>grammar+syntax   pseudo=false  grammar=true   syntax=true</a:t>
            </a:r>
          </a:p>
          <a:p>
            <a:r>
              <a:rPr lang="en-US" sz="1200" b="1">
                <a:solidFill>
                  <a:srgbClr val="4EC9B0"/>
                </a:solidFill>
              </a:rPr>
              <a:t>all              pseudo=true   grammar=true   syntax=true</a:t>
            </a:r>
          </a:p>
        </p:txBody>
      </p:sp>
      <p:sp>
        <p:nvSpPr>
          <p:cNvPr id="22" name="C"/>
          <p:cNvSpPr txBox="1"/>
          <p:nvPr/>
        </p:nvSpPr>
        <p:spPr>
          <a:xfrm>
            <a:off x="457200" y="5486000"/>
            <a:ext cx="11277600" cy="9144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>
                <a:solidFill>
                  <a:srgbClr val="D0D0D0"/>
                </a:solidFill>
              </a:rPr>
              <a:t>配置：commons-csv / 381 fragments / gpt-4o / 温度 0.0 / 每组前重建 skeleton / Fisher exact 双侧 p 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</p:spPr>
        <p:txBody>
          <a:bodyPr/>
          <a:lstStyle/>
          <a:p/>
        </p:txBody>
      </p:sp>
      <p:sp>
        <p:nvSpPr>
          <p:cNvPr id="11" name="T"/>
          <p:cNvSpPr txBox="1"/>
          <p:nvPr/>
        </p:nvSpPr>
        <p:spPr>
          <a:xfrm>
            <a:off x="457200" y="274000"/>
            <a:ext cx="11277600" cy="571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2400" b="1">
                <a:solidFill>
                  <a:srgbClr val="00BEE6"/>
                </a:solidFill>
              </a:rPr>
              <a:t>消融结果</a:t>
            </a:r>
          </a:p>
        </p:txBody>
      </p:sp>
      <p:sp>
        <p:nvSpPr>
          <p:cNvPr id="20" name="T"/>
          <p:cNvSpPr txBox="1"/>
          <p:nvPr/>
        </p:nvSpPr>
        <p:spPr>
          <a:xfrm>
            <a:off x="457200" y="823000"/>
            <a:ext cx="11277600" cy="4114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400" b="1">
                <a:solidFill>
                  <a:srgbClr val="00BEE6"/>
                </a:solidFill>
              </a:rPr>
              <a:t>8 组总览(commons-csv / gpt-4o / 381 fragments)：</a:t>
            </a:r>
          </a:p>
          <a:p>
            <a:r>
              <a:rPr lang="en-US" sz="400">
                <a:solidFill>
                  <a:srgbClr val="0D1B2A"/>
                </a:solidFill>
              </a:rPr>
              <a:t/>
            </a:r>
          </a:p>
          <a:p>
            <a:r>
              <a:rPr lang="en-US" sz="1400">
                <a:solidFill>
                  <a:srgbClr val="D0D0D0"/>
                </a:solidFill>
              </a:rPr>
              <a:t>baseline              241 完成    63.3%     --</a:t>
            </a:r>
          </a:p>
          <a:p>
            <a:r>
              <a:rPr lang="en-US" sz="1400">
                <a:solidFill>
                  <a:srgbClr val="D0D0D0"/>
                </a:solidFill>
              </a:rPr>
              <a:t>pseudo (Part 1)        249 完成    65.4%     +2.1pp</a:t>
            </a:r>
          </a:p>
          <a:p>
            <a:r>
              <a:rPr lang="en-US" sz="1400">
                <a:solidFill>
                  <a:srgbClr val="D0D0D0"/>
                </a:solidFill>
              </a:rPr>
              <a:t>grammar (Part 2)       255 完成    66.9%     +3.7pp</a:t>
            </a:r>
          </a:p>
          <a:p>
            <a:r>
              <a:rPr lang="en-US" sz="1400" b="1">
                <a:solidFill>
                  <a:srgbClr val="4EC9B0"/>
                </a:solidFill>
              </a:rPr>
              <a:t>syntax (Part 3)        258 完成    67.7%     +4.5pp</a:t>
            </a:r>
          </a:p>
          <a:p>
            <a:r>
              <a:rPr lang="en-US" sz="1400">
                <a:solidFill>
                  <a:srgbClr val="D0D0D0"/>
                </a:solidFill>
              </a:rPr>
              <a:t>pseudo+grammar (1+2)   259 完成    68.0%     +4.7pp</a:t>
            </a:r>
          </a:p>
          <a:p>
            <a:r>
              <a:rPr lang="en-US" sz="1400">
                <a:solidFill>
                  <a:srgbClr val="D0D0D0"/>
                </a:solidFill>
              </a:rPr>
              <a:t>pseudo+syntax (1+3)    260 完成    68.2%     +5.0pp</a:t>
            </a:r>
          </a:p>
          <a:p>
            <a:r>
              <a:rPr lang="en-US" sz="1400">
                <a:solidFill>
                  <a:srgbClr val="D0D0D0"/>
                </a:solidFill>
              </a:rPr>
              <a:t>grammar+syntax (2+3)   260 完成    68.2%     +5.0pp</a:t>
            </a:r>
          </a:p>
          <a:p>
            <a:r>
              <a:rPr lang="en-US" sz="1400" b="1">
                <a:solidFill>
                  <a:srgbClr val="4EC9B0"/>
                </a:solidFill>
              </a:rPr>
              <a:t>all (1+2+3)            260 完成    68.2%     +5.0pp</a:t>
            </a:r>
          </a:p>
        </p:txBody>
      </p:sp>
      <p:sp>
        <p:nvSpPr>
          <p:cNvPr id="21" name="F"/>
          <p:cNvSpPr txBox="1"/>
          <p:nvPr/>
        </p:nvSpPr>
        <p:spPr>
          <a:xfrm>
            <a:off x="457200" y="5029000"/>
            <a:ext cx="11277600" cy="1371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400" b="1">
                <a:solidFill>
                  <a:srgbClr val="4EC9B0"/>
                </a:solidFill>
              </a:rPr>
              <a:t>单部分独立效应排序：Part 3 (+4.5pp) &gt; Part 2 (+3.7pp) &gt; Part 1 (+2.1pp)</a:t>
            </a:r>
          </a:p>
          <a:p>
            <a:r>
              <a:rPr lang="en-US" sz="1400" b="1">
                <a:solidFill>
                  <a:srgbClr val="FFA500"/>
                </a:solidFill>
              </a:rPr>
              <a:t>组合饱和：两两组合接近 +5.0pp，三部分全开无额外增益 - 覆盖的错误类型有重叠</a:t>
            </a:r>
          </a:p>
          <a:p>
            <a:r>
              <a:rPr lang="en-US" sz="1200">
                <a:solidFill>
                  <a:srgbClr val="D0D0D0"/>
                </a:solidFill>
              </a:rPr>
              <a:t>显著性：Fisher exact p 值均 &gt;0.05(单项目 381 样本量不足)，但趋势清晰一致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</p:spPr>
        <p:txBody>
          <a:bodyPr/>
          <a:lstStyle/>
          <a:p/>
        </p:txBody>
      </p:sp>
      <p:sp>
        <p:nvSpPr>
          <p:cNvPr id="11" name="T"/>
          <p:cNvSpPr txBox="1"/>
          <p:nvPr/>
        </p:nvSpPr>
        <p:spPr>
          <a:xfrm>
            <a:off x="457200" y="274000"/>
            <a:ext cx="11277600" cy="571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2400" b="1">
                <a:solidFill>
                  <a:srgbClr val="00BEE6"/>
                </a:solidFill>
              </a:rPr>
              <a:t>结果分析与未来工作</a:t>
            </a:r>
          </a:p>
        </p:txBody>
      </p:sp>
      <p:sp>
        <p:nvSpPr>
          <p:cNvPr id="20" name="F"/>
          <p:cNvSpPr txBox="1"/>
          <p:nvPr/>
        </p:nvSpPr>
        <p:spPr>
          <a:xfrm>
            <a:off x="457200" y="823000"/>
            <a:ext cx="11277600" cy="320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600" b="1">
                <a:solidFill>
                  <a:srgbClr val="00BEE6"/>
                </a:solidFill>
              </a:rPr>
              <a:t>关键发现：</a:t>
            </a:r>
          </a:p>
          <a:p>
            <a:r>
              <a:rPr lang="en-US" sz="1300">
                <a:solidFill>
                  <a:srgbClr val="D0D0D0"/>
                </a:solidFill>
              </a:rPr>
              <a:t>1. Part 3 语法图 RAG 单独贡献最大(+4.5pp) - 结构相似的 Cangjie 代码片段是最有效的 few-shot 示例</a:t>
            </a:r>
          </a:p>
          <a:p>
            <a:r>
              <a:rPr lang="en-US" sz="1300">
                <a:solidFill>
                  <a:srgbClr val="D0D0D0"/>
                </a:solidFill>
              </a:rPr>
              <a:t>2. Part 2 语法注入次之(+3.7pp) - EBNF 规则直接减少语法类编译错误</a:t>
            </a:r>
          </a:p>
          <a:p>
            <a:r>
              <a:rPr lang="en-US" sz="1300">
                <a:solidFill>
                  <a:srgbClr val="D0D0D0"/>
                </a:solidFill>
              </a:rPr>
              <a:t>3. Part 1 伪代码贡献最小(+2.1pp) - CoT 效应被 Part 2/3 部分吸收</a:t>
            </a:r>
          </a:p>
          <a:p>
            <a:r>
              <a:rPr lang="en-US" sz="1300">
                <a:solidFill>
                  <a:srgbClr val="D0D0D0"/>
                </a:solidFill>
              </a:rPr>
              <a:t>4. 组合饱和：Part 2+3 或 1+2+3 都达到 +5.0pp，覆盖错误类型有重叠</a:t>
            </a:r>
          </a:p>
          <a:p>
            <a:r>
              <a:rPr lang="en-US" sz="1300">
                <a:solidFill>
                  <a:srgbClr val="D0D0D0"/>
                </a:solidFill>
              </a:rPr>
              <a:t>5. 代价：Part 1 增加每 fragment 耗时 ~30%(多一次 LLM 调用)，Part 2/3 几乎无额外开销</a:t>
            </a:r>
          </a:p>
        </p:txBody>
      </p:sp>
      <p:sp>
        <p:nvSpPr>
          <p:cNvPr id="21" name="U"/>
          <p:cNvSpPr txBox="1"/>
          <p:nvPr/>
        </p:nvSpPr>
        <p:spPr>
          <a:xfrm>
            <a:off x="457200" y="4114000"/>
            <a:ext cx="11277600" cy="2286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600" b="1">
                <a:solidFill>
                  <a:srgbClr val="00BEE6"/>
                </a:solidFill>
              </a:rPr>
              <a:t>后续可改进：</a:t>
            </a:r>
          </a:p>
          <a:p>
            <a:r>
              <a:rPr lang="en-US" sz="1300">
                <a:solidFill>
                  <a:srgbClr val="D0D0D0"/>
                </a:solidFill>
              </a:rPr>
              <a:t>扩展到多项目多模型(jansi / commons-cli + deepseek-chat / glm-5.1)，增大样本量</a:t>
            </a:r>
          </a:p>
          <a:p>
            <a:r>
              <a:rPr lang="en-US" sz="1300">
                <a:solidFill>
                  <a:srgbClr val="D0D0D0"/>
                </a:solidFill>
              </a:rPr>
              <a:t>跑 mock 测试拿 test_pass 指标</a:t>
            </a:r>
          </a:p>
          <a:p>
            <a:r>
              <a:rPr lang="en-US" sz="1300">
                <a:solidFill>
                  <a:srgbClr val="D0D0D0"/>
                </a:solidFill>
              </a:rPr>
              <a:t>Part 1 做 CoT-only ablation 分离 CoT 效应</a:t>
            </a:r>
          </a:p>
          <a:p>
            <a:r>
              <a:rPr lang="en-US" sz="1300">
                <a:solidFill>
                  <a:srgbClr val="D0D0D0"/>
                </a:solidFill>
              </a:rPr>
              <a:t>Part 3 升级为 tree-sitter 真实 CFG/DFG + 跨语言预训练模型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</p:spPr>
        <p:txBody>
          <a:bodyPr/>
          <a:lstStyle/>
          <a:p/>
        </p:txBody>
      </p:sp>
      <p:sp>
        <p:nvSpPr>
          <p:cNvPr id="11" name="T"/>
          <p:cNvSpPr txBox="1"/>
          <p:nvPr/>
        </p:nvSpPr>
        <p:spPr>
          <a:xfrm>
            <a:off x="457200" y="274000"/>
            <a:ext cx="11277600" cy="571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2400" b="1">
                <a:solidFill>
                  <a:srgbClr val="00BEE6"/>
                </a:solidFill>
              </a:rPr>
              <a:t>参考论文速查</a:t>
            </a:r>
          </a:p>
        </p:txBody>
      </p:sp>
      <p:sp>
        <p:nvSpPr>
          <p:cNvPr id="20" name="R"/>
          <p:cNvSpPr txBox="1"/>
          <p:nvPr/>
        </p:nvSpPr>
        <p:spPr>
          <a:xfrm>
            <a:off x="457200" y="823000"/>
            <a:ext cx="11277600" cy="4114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300">
                <a:solidFill>
                  <a:srgbClr val="D0D0D0"/>
                </a:solidFill>
              </a:rPr>
              <a:t>A1  Pseudocode-based Code Translation (arXiv 2510.00920)          Part 1</a:t>
            </a:r>
          </a:p>
          <a:p>
            <a:r>
              <a:rPr lang="en-US" sz="1300">
                <a:solidFill>
                  <a:srgbClr val="D0D0D0"/>
                </a:solidFill>
              </a:rPr>
              <a:t>A3  NL in the Middle (CASCON 2025)                                Part 1 设计依据</a:t>
            </a:r>
          </a:p>
          <a:p>
            <a:r>
              <a:rPr lang="en-US" sz="1300">
                <a:solidFill>
                  <a:srgbClr val="D0D0D0"/>
                </a:solidFill>
              </a:rPr>
              <a:t>A6  Assessing Intermediate Languages (arXiv 2407.05411)          Part 1 ablation 依据</a:t>
            </a:r>
          </a:p>
          <a:p>
            <a:r>
              <a:rPr lang="en-US" sz="1300">
                <a:solidFill>
                  <a:srgbClr val="D0D0D0"/>
                </a:solidFill>
              </a:rPr>
              <a:t>B2  Grammar Prompting (ACL 2023)                                 Part 2</a:t>
            </a:r>
          </a:p>
          <a:p>
            <a:r>
              <a:rPr lang="en-US" sz="1300">
                <a:solidFill>
                  <a:srgbClr val="D0D0D0"/>
                </a:solidFill>
              </a:rPr>
              <a:t>B1  DocCGen (EMNLP 2024)                                         Part 2 补充</a:t>
            </a:r>
          </a:p>
          <a:p>
            <a:r>
              <a:rPr lang="en-US" sz="1300">
                <a:solidFill>
                  <a:srgbClr val="D0D0D0"/>
                </a:solidFill>
              </a:rPr>
              <a:t>B3  CodeGRAG (arXiv 2405.02355)                                  Part 3</a:t>
            </a:r>
          </a:p>
          <a:p>
            <a:r>
              <a:rPr lang="en-US" sz="1300">
                <a:solidFill>
                  <a:srgbClr val="D0D0D0"/>
                </a:solidFill>
              </a:rPr>
              <a:t>B4  Syntax-Aware RAG (EMNLP 2023 Findings)                       Part 3 补充</a:t>
            </a:r>
          </a:p>
          <a:p>
            <a:r>
              <a:rPr lang="en-US" sz="800">
                <a:solidFill>
                  <a:srgbClr val="0D1B2A"/>
                </a:solidFill>
              </a:rPr>
              <a:t/>
            </a:r>
          </a:p>
          <a:p>
            <a:r>
              <a:rPr lang="en-US" sz="1200">
                <a:solidFill>
                  <a:srgbClr val="00BEE6"/>
                </a:solidFill>
              </a:rPr>
              <a:t>完整论文摘要：docs/related_work_code_translation.md</a:t>
            </a:r>
          </a:p>
          <a:p>
            <a:r>
              <a:rPr lang="en-US" sz="1200">
                <a:solidFill>
                  <a:srgbClr val="00BEE6"/>
                </a:solidFill>
              </a:rPr>
              <a:t>完整实现细节：docs/fragment_translation_enhancements.md</a:t>
            </a:r>
          </a:p>
          <a:p>
            <a:r>
              <a:rPr lang="en-US" sz="1200">
                <a:solidFill>
                  <a:srgbClr val="00BEE6"/>
                </a:solidFill>
              </a:rPr>
              <a:t>完整工作汇报：docs/work_report.md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rk">
  <a:clrScheme name="Dark">
    <a:dk1>
      <a:srgbClr val="0D1B2A"/>
    </a:dk1>
    <a:lt1>
      <a:srgbClr val="FFFFFF"/>
    </a:lt1>
    <a:dk2>
      <a:srgbClr val="1B2A3A"/>
    </a:dk2>
    <a:lt2>
      <a:srgbClr val="D0D0D0"/>
    </a:lt2>
    <a:accent1>
      <a:srgbClr val="00BEE6"/>
    </a:accent1>
    <a:accent2>
      <a:srgbClr val="4EC9B0"/>
    </a:accent2>
    <a:accent3>
      <a:srgbClr val="FFA500"/>
    </a:accent3>
    <a:accent4>
      <a:srgbClr val="FF5555"/>
    </a:accent4>
    <a:accent5>
      <a:srgbClr val="569CD6"/>
    </a:accent5>
    <a:accent6>
      <a:srgbClr val="C586C0"/>
    </a:accent6>
    <a:hlink>
      <a:srgbClr val="00BEE6"/>
    </a:hlink>
    <a:folHlink>
      <a:srgbClr val="00BEE6"/>
    </a:folHlink>
  </a:clrScheme>
  <a:fontScheme name="Dark">
    <a:majorFont typeface="Calibri"/>
    <a:minorFont typeface="Calibri"/>
  </a:fontScheme>
  <a:fmtScheme name="Default">
    <a:fillLst>
      <a:solidFill>
        <a:srgbClr val="0D1B2A"/>
      </a:solidFill>
    </a:fillLst>
    <a:lnLst>
      <a:ln w="9525" cap="flat" cmpd="sng" algn="ctr">
        <a:solidFill>
          <a:srgbClr val="00BEE6"/>
        </a:solidFill>
        <a:prstDash val="solid"/>
      </a:ln>
    </a:lnLst>
    <a:effectLst/>
    <a:bgFillLst>
      <a:solidFill>
        <a:srgbClr val="0D1B2A"/>
      </a:solidFill>
    </a:bgFillLst>
  </a:fmtScheme>
</a:theme>
</file>